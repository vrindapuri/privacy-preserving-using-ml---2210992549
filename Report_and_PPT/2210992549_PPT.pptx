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eg" ContentType="image/jpeg"/>
  <Default Extension="JPG" ContentType="image/.jp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18"/>
  </p:handoutMasterIdLst>
  <p:sldIdLst>
    <p:sldId id="256" r:id="rId3"/>
    <p:sldId id="257" r:id="rId5"/>
    <p:sldId id="300" r:id="rId6"/>
    <p:sldId id="301" r:id="rId7"/>
    <p:sldId id="302" r:id="rId8"/>
    <p:sldId id="303" r:id="rId9"/>
    <p:sldId id="304" r:id="rId10"/>
    <p:sldId id="305" r:id="rId11"/>
    <p:sldId id="306" r:id="rId12"/>
    <p:sldId id="307" r:id="rId13"/>
    <p:sldId id="308" r:id="rId14"/>
    <p:sldId id="309" r:id="rId15"/>
    <p:sldId id="310" r:id="rId16"/>
    <p:sldId id="268" r:id="rId17"/>
  </p:sldIdLst>
  <p:sldSz cx="9144000" cy="6858000" type="screen4x3"/>
  <p:notesSz cx="7559675" cy="1069149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118" d="100"/>
          <a:sy n="118" d="100"/>
        </p:scale>
        <p:origin x="-1482" y="-18"/>
      </p:cViewPr>
      <p:guideLst>
        <p:guide orient="horz" pos="2160"/>
        <p:guide pos="288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customXml" Target="../customXml/item3.xml"/><Relationship Id="rId23" Type="http://schemas.openxmlformats.org/officeDocument/2006/relationships/customXml" Target="../customXml/item2.xml"/><Relationship Id="rId22" Type="http://schemas.openxmlformats.org/officeDocument/2006/relationships/customXml" Target="../customXml/item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Name of the faculty [Group: G00] [Sem:2nd]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C5A7523A-12D4-4E0F-9409-B3F845B48333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jpe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3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4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3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4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1143000" lvl="2" indent="-227965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1600200" lvl="3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057400" lvl="4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 panose="02020603050405020304"/>
              </a:rPr>
              <a:t>Name</a:t>
            </a:r>
            <a:endParaRPr lang="en-GB" sz="2400" b="0" strike="noStrike" spc="-1">
              <a:latin typeface="Times New Roman" panose="02020603050405020304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Industry (Module-2) </a:t>
            </a:r>
            <a:r>
              <a:rPr lang="en-IN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  <a:endParaRPr lang="en-IN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endParaRPr lang="en-US" sz="2000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Privacy-Preserving Machine Learning using Federated Learning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Vrinda Puri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Roll No.: 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2210992549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Supervised By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alt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Dr. Simarjit Kaur</a:t>
            </a:r>
            <a:endParaRPr lang="en-US" sz="2000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Computer Science and Engineering, </a:t>
            </a:r>
            <a:endParaRPr lang="en-US" sz="2400" b="0" strike="noStrike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Chitkara University, Punjab</a:t>
            </a:r>
            <a:endParaRPr lang="en-US" sz="2400" b="0" strike="noStrike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Shape 100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 / Agenda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r>
              <a:rPr lang="en-US" sz="1200" b="1">
                <a:solidFill>
                  <a:srgbClr val="000000"/>
                </a:solidFill>
                <a:latin typeface="Calibri" panose="020F0502020204030204"/>
              </a:rPr>
              <a:t>2</a:t>
            </a:r>
            <a:endParaRPr lang="en-US" sz="1200" b="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" name="ContentShape 5"/>
          <p:cNvSpPr txBox="1"/>
          <p:nvPr/>
        </p:nvSpPr>
        <p:spPr>
          <a:xfrm>
            <a:off x="164008" y="1109107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Introduction &amp; Background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Federated Learning Architecture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Privacy-Preserving Techniques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Proposed System: PFed-HE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Experimental Results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Industry Applications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Technical Challenges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Conclusion &amp; Future Scope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References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Shape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Machine learning is widely deployed in healthcare, finance, e-commerce &amp; mobile apps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High accuracy requires large volumes of sensitive user data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Centralized ML: all data aggregated on a single server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Creates data breach risks, single point of failure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Violates GDPR, HIPAA, PCI-DSS regulations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Federated Learning (FL) – McMahan et al., 2017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Train a shared global model without sharing raw data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Clients share gradient updates, not private data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Goal: Analyse FL as a privacy-preserving ML framework and propose PFed-HE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Shape 100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Background: Centralized vs Federated Learning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r>
              <a:rPr lang="en-US" sz="1200" b="1">
                <a:solidFill>
                  <a:srgbClr val="000000"/>
                </a:solidFill>
                <a:latin typeface="Calibri" panose="020F0502020204030204"/>
              </a:rPr>
              <a:t>4</a:t>
            </a:r>
            <a:endParaRPr lang="en-US" sz="1200" b="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" name="ContentShape 5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Centralized ML – Traditional Paradigm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All data transported and stored at a central server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Vulnerable to breaches; non-compliant with privacy laws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Federated Learning – Distributed Paradigm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Clients perform local training on private data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Only model updates (gradients) are sent to server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Raw data never leaves the client device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Three types of FL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Horizontal FL: same features, different samples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Vertical FL: different features, overlapping samples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Federated Transfer Learning: minimal overlap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Shape 100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Learning Architecture &amp; FedAvg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r>
              <a:rPr lang="en-US" sz="1200" b="1">
                <a:solidFill>
                  <a:srgbClr val="000000"/>
                </a:solidFill>
                <a:latin typeface="Calibri" panose="020F0502020204030204"/>
              </a:rPr>
              <a:t>5</a:t>
            </a:r>
            <a:endParaRPr lang="en-US" sz="1200" b="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" name="ContentShape 5"/>
          <p:cNvSpPr txBox="1"/>
          <p:nvPr/>
        </p:nvSpPr>
        <p:spPr>
          <a:xfrm>
            <a:off x="164008" y="1109742"/>
            <a:ext cx="4300000" cy="48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System Components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N dispersed clients with private datasets D_k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Central aggregation server coordinating training rounds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Communication protocol for parameter exchange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FedAvg Training Protocol (per round t)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1. Server selects subset S_t of clients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2. Each client downloads global model w_t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3. Client trains locally for E epochs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4. Updated weights w_k^(t+1) sent to server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5. Server aggregates: w_{t+1} = Σ (n_k/n) · w_k^(t+1)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139700" lvl="0" indent="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None/>
            </a:pP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01" name="ConvergenceChar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2825" y="1834515"/>
            <a:ext cx="4177030" cy="37960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Shape 100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Privacy-Preserving Techniques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r>
              <a:rPr lang="en-US" sz="1200" b="1">
                <a:solidFill>
                  <a:srgbClr val="000000"/>
                </a:solidFill>
                <a:latin typeface="Calibri" panose="020F0502020204030204"/>
              </a:rPr>
              <a:t>6</a:t>
            </a:r>
            <a:endParaRPr lang="en-US" sz="1200" b="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" name="ContentShape 5"/>
          <p:cNvSpPr txBox="1"/>
          <p:nvPr/>
        </p:nvSpPr>
        <p:spPr>
          <a:xfrm>
            <a:off x="164008" y="1109742"/>
            <a:ext cx="4200000" cy="483857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Differential Privacy (DP)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Add calibrated Gaussian/Laplace noise to model updates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(ε, δ)-DP: smaller ε = stronger privacy, lower accuracy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Homomorphic Encryption (HE)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Compute on encrypted gradients without decryption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CKKS scheme: efficient approximate arithmetic over real vectors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FHE: unrestricted ops; PHE: only addition or multiplication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Secure Multi-Party Computation (SMPC)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Shamir's secret sharing splits updates into n shares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Server learns only the aggregate,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139700" lvl="0" indent="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None/>
            </a:pP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01" name="PrivacyChar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1240" y="1109980"/>
            <a:ext cx="3966845" cy="38855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Shape 100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System: PFed-HE Overview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r>
              <a:rPr lang="en-US" sz="1200" b="1">
                <a:solidFill>
                  <a:srgbClr val="000000"/>
                </a:solidFill>
                <a:latin typeface="Calibri" panose="020F0502020204030204"/>
              </a:rPr>
              <a:t>7</a:t>
            </a:r>
            <a:endParaRPr lang="en-US" sz="1200" b="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" name="ContentShape 5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Privacy-Preserving Federated Learning with Homomorphic Encryption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Six integrated components: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① Optimized CKKS HE for gradient protection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② Differential Privacy (ε = 0.5) as secondary privacy layer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③ Client-side encryption module in training loop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④ Decentralized aggregation over encrypted ciphertexts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⑤ Dynamic key management with Diffie-Hellman rotation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⑥ Batch-parallelized HE operations (CRT slot packing)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Targets: sensitive cross-silo FL (healthcare, finance, IoT)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Shape 100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PFed-HE: Client Encryption &amp; Aggregation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r>
              <a:rPr lang="en-US" sz="1200" b="1">
                <a:solidFill>
                  <a:srgbClr val="000000"/>
                </a:solidFill>
                <a:latin typeface="Calibri" panose="020F0502020204030204"/>
              </a:rPr>
              <a:t>8</a:t>
            </a:r>
            <a:endParaRPr lang="en-US" sz="1200" b="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" name="ContentShape 5"/>
          <p:cNvSpPr txBox="1"/>
          <p:nvPr/>
        </p:nvSpPr>
        <p:spPr>
          <a:xfrm>
            <a:off x="164008" y="1109742"/>
            <a:ext cx="4300000" cy="48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Client-Side Encryption Steps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Step 1: Gradient clipping to sensitivity bound S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Step 2: Add Gaussian noise N(0, σ²I) for (ε, δ)-DP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Step 3: Encode into CKKS plaintext slots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Step 4: Encrypt → send ciphertext c_k to server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Server Encrypted Aggregation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Homomorphic weighted sum: c_agg = Σ (n_k/n) ⊙ c_k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Decrypt only the final aggregate using shared session key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Dynamic Key Management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Diffie-Hellman key negotiation at start of each round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lvl="1" indent="0">
              <a:lnSpc>
                <a:spcPct val="120000"/>
              </a:lnSpc>
              <a:buNone/>
            </a:pP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801" name="LatencyChar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0000" y="1100000"/>
            <a:ext cx="4550000" cy="475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Shape 100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 &amp; Results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r>
              <a:rPr lang="en-US" sz="1200" b="1">
                <a:solidFill>
                  <a:srgbClr val="000000"/>
                </a:solidFill>
                <a:latin typeface="Calibri" panose="020F0502020204030204"/>
              </a:rPr>
              <a:t>9</a:t>
            </a:r>
            <a:endParaRPr lang="en-US" sz="1200" b="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" name="ContentShape 5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Baselines: FedAvg, DP-FedAvg (ε=1.0), SecAgg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Datasets: MNIST, CIFAR-10, Medical Chest X-Ray (Non-IID, α=0.5, 100 clients)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en-US" sz="1900"/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Results Summary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MNIST: PFed-HE 96.9% vs FedAvg 98.7%  (gap: 1.8%)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CIFAR-10: PFed-HE 80.2% vs FedAvg 83.4%  (gap: 3.2%)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Medical AUC: 91.4% vs 93.1% (non-private) – clinically acceptable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PFed-HE provides ε = 0.5 (stronger than DP-FedAvg at ε = 1.0)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Communication Overhead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Without batch optimization: 3.4× overhead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With CRT slot packing: reduced to 1.9×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Encryption time: 2.3s → 0.9s with parallel processing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901" name="AccuracyChar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0000" y="1050000"/>
            <a:ext cx="4550000" cy="2380000"/>
          </a:xfrm>
          <a:prstGeom prst="rect">
            <a:avLst/>
          </a:prstGeom>
        </p:spPr>
      </p:pic>
      <p:pic>
        <p:nvPicPr>
          <p:cNvPr id="902" name="Overhead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000" y="3500000"/>
            <a:ext cx="4550000" cy="238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Shape 100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Applications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r>
              <a:rPr lang="en-US" sz="1200" b="1">
                <a:solidFill>
                  <a:srgbClr val="000000"/>
                </a:solidFill>
                <a:latin typeface="Calibri" panose="020F0502020204030204"/>
              </a:rPr>
              <a:t>10</a:t>
            </a:r>
            <a:endParaRPr lang="en-US" sz="1200" b="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" name="ContentShape 5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Healthcare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Multi-hospital model training without sharing patient records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Brain tumor segmentation, COVID-19 X-ray, diabetic retinopathy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Finance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Cross-bank fraud detection on combined transaction data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SecureBoost: vertical FL for credit risk modelling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Mobile &amp; Edge Computing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Google Gboard: next-word prediction for billions of users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On-device voice recognition without uploading audio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IoT &amp; Smart Cities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Smart grid energy management, predictive maintenance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Connected vehicles: traffic prediction without GPS traces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Shape 100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&amp; Security Challenges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r>
              <a:rPr lang="en-US" sz="1200" b="1">
                <a:solidFill>
                  <a:srgbClr val="000000"/>
                </a:solidFill>
                <a:latin typeface="Calibri" panose="020F0502020204030204"/>
              </a:rPr>
              <a:t>11</a:t>
            </a:r>
            <a:endParaRPr lang="en-US" sz="1200" b="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" name="ContentShape 5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Communication Overhead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Deep models have millions of parameters to transmit per round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Mitigation: gradient compression, quantization, top-k sparsification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Non-IID Data Heterogeneity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Client drift from divergent local objectives → slow convergence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Solutions: FedProx, SCAFFOLD, personalized FL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Gradient Leakage Attacks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DLG attack can reconstruct training samples from gradients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Defence: DP, gradient compression, secure aggregation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Poisoning &amp; Byzantine Attacks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Malicious clients inject crafted updates (backdoor triggers)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Defences: Krum, Trimmed Mean, FLTrust – still imperfect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Shape 100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r>
              <a:rPr lang="en-US" sz="1200" b="1">
                <a:solidFill>
                  <a:srgbClr val="000000"/>
                </a:solidFill>
                <a:latin typeface="Calibri" panose="020F0502020204030204"/>
              </a:rPr>
              <a:t>12</a:t>
            </a:r>
            <a:endParaRPr lang="en-US" sz="1200" b="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" name="ContentShape 5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Conclusions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FL enables collaborative ML without sharing raw data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PFed-HE combines HE + DP + dynamic key mgmt for end-to-end privacy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Achieves competitive accuracy with formal (ε=0.5)-DP guarantees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Communication overhead reduced to 1.9× with batch optimization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Future Research Directions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Personalized FL with formal convergence guarantees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Blockchain-based audit trails for model update accountability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Quantum-secure cryptographic primitives for HE/SMPC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Federated Reinforcement Learning (robotics, autonomous driving)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marL="685800" lvl="1" indent="-228600">
              <a:lnSpc>
                <a:spcPct val="120000"/>
              </a:lnSpc>
              <a:buChar char="–"/>
            </a:pPr>
            <a:r>
              <a:rPr lang="en-US" sz="1700" b="0" dirty="0">
                <a:solidFill>
                  <a:srgbClr val="333333"/>
                </a:solidFill>
                <a:latin typeface="Times New Roman" panose="02020603050405020304" pitchFamily="18" charset="0"/>
              </a:rPr>
              <a:t>FL + LLMs via LoRA for privacy-preserving fine-tuning at scale</a:t>
            </a:r>
            <a:endParaRPr lang="en-US" sz="1700" b="0" dirty="0">
              <a:solidFill>
                <a:srgbClr val="333333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Shape 100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r>
              <a:rPr lang="en-US" sz="1200" b="1">
                <a:solidFill>
                  <a:srgbClr val="000000"/>
                </a:solidFill>
                <a:latin typeface="Calibri" panose="020F0502020204030204"/>
              </a:rPr>
              <a:t>13</a:t>
            </a:r>
            <a:endParaRPr lang="en-US" sz="1200" b="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" name="ContentShape 5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[1] McMahan et al. – FedAvg. AISTATS, 2017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[2] Li et al. – FL: Challenges, Methods. IEEE Signal Process., 2020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[3] Yang et al. – Federated Machine Learning. ACM TIST, 2019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[4] Kairouz et al. – Advances and Open Problems in FL. Found. Trends ML, 2021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[5] Bagdasaryan et al. – How to Backdoor FL. AISTATS, 2020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[6] Bonawitz et al. – Practical Secure Aggregation. CCS, 2017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[7] Geyer et al. – Client-Level DP for FL. arXiv:1712.07557, 2017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[8] Dwork &amp; Roth – Algorithmic Foundations of DP. Found. Trends TCS, 2014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[9] Cheon et al. – CKKS Homomorphic Encryption. ASIACRYPT, 2017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[10] Rieke et al. – Future of Digital Health with FL. npj Digital Med., 2020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300"/>
              </a:spcBef>
              <a:buClr>
                <a:srgbClr val="CC0000"/>
              </a:buClr>
              <a:buSzPts val="12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[11] Lim et al. – FL in Mobile Edge Networks. IEEE Commun. Surv., 2020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457200" y="1800000"/>
            <a:ext cx="8229600" cy="2025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GB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/>
            <a:r>
              <a:rPr lang="en-US" sz="1200" b="1">
                <a:solidFill>
                  <a:srgbClr val="000000"/>
                </a:solidFill>
                <a:latin typeface="Calibri" panose="020F0502020204030204"/>
              </a:rPr>
              <a:t>14</a:t>
            </a:r>
            <a:endParaRPr lang="en-US" sz="1200" b="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/>
</ds:datastoreItem>
</file>

<file path=customXml/itemProps2.xml><?xml version="1.0" encoding="utf-8"?>
<ds:datastoreItem xmlns:ds="http://schemas.openxmlformats.org/officeDocument/2006/customXml" ds:itemID="{737ED6F0-5E4C-4CD0-9B68-9C53F925A6F7}">
  <ds:schemaRefs/>
</ds:datastoreItem>
</file>

<file path=customXml/itemProps3.xml><?xml version="1.0" encoding="utf-8"?>
<ds:datastoreItem xmlns:ds="http://schemas.openxmlformats.org/officeDocument/2006/customXml" ds:itemID="{491DF113-39A2-46D5-BFDA-E63300A9ECAB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6426</Words>
  <Application>WPS Presentation</Application>
  <PresentationFormat>On-screen Show (4:3)</PresentationFormat>
  <Paragraphs>205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SimSun</vt:lpstr>
      <vt:lpstr>Wingdings</vt:lpstr>
      <vt:lpstr>Calibri</vt:lpstr>
      <vt:lpstr>MS PGothic</vt:lpstr>
      <vt:lpstr>Arial</vt:lpstr>
      <vt:lpstr>Times New Roman</vt:lpstr>
      <vt:lpstr>Times New Roman</vt:lpstr>
      <vt:lpstr>Calibri</vt:lpstr>
      <vt:lpstr>Microsoft YaHei</vt:lpstr>
      <vt:lpstr>Arial Unicode MS</vt:lpstr>
      <vt:lpstr>DejaVu Sans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CCC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Vrinda Puri</cp:lastModifiedBy>
  <cp:revision>2302</cp:revision>
  <dcterms:created xsi:type="dcterms:W3CDTF">2010-04-09T07:36:00Z</dcterms:created>
  <dcterms:modified xsi:type="dcterms:W3CDTF">2026-05-18T14:40:30Z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  <property fmtid="{D5CDD505-2E9C-101B-9397-08002B2CF9AE}" pid="14" name="ICV">
    <vt:lpwstr>CC001DBAB3884252ADE4C14C764B76C3_13</vt:lpwstr>
  </property>
  <property fmtid="{D5CDD505-2E9C-101B-9397-08002B2CF9AE}" pid="15" name="KSOProductBuildVer">
    <vt:lpwstr>1033-12.1.0.26372</vt:lpwstr>
  </property>
</Properties>
</file>